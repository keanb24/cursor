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D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0D7A7A"/>
                </a:solidFill>
                <a:latin typeface="Calibri"/>
              </a:rPr>
              <a:t>SITE LEADERSHIP DEBRIEF  ·  15 MINUTES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10515600" cy="1463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Human in the Loop Is Not Enough:
Who Is Really Running the Workflow?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657600"/>
            <a:ext cx="10515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E8EEF4"/>
                </a:solidFill>
                <a:latin typeface="Calibri"/>
              </a:rPr>
              <a:t>NASSCOM session  ·  29 Sep 2026  ·  HICC, Hyderabad  ·  Ahead of NTC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572000"/>
            <a:ext cx="1051560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E8EEF4"/>
                </a:solidFill>
                <a:latin typeface="Calibri"/>
              </a:rPr>
              <a:t>Insights for how AI is reshaping enterprise workflows, accountability,
and the skills / roles our site should prioritize through 2028.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943600"/>
            <a:ext cx="10515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5A6A7A"/>
                </a:solidFill>
                <a:latin typeface="Calibri"/>
              </a:rPr>
              <a:t>Internal use — synthesized from session notes + public industry context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9144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Agenda — 15 minutes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188720"/>
            <a:ext cx="1106424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371600"/>
            <a:ext cx="9144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>
                <a:solidFill>
                  <a:srgbClr val="0D7A7A"/>
                </a:solidFill>
                <a:latin typeface="Calibr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1389888"/>
            <a:ext cx="77724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1A2A3A"/>
                </a:solidFill>
                <a:latin typeface="Calibri"/>
              </a:rPr>
              <a:t>Session snapshot &amp; the central question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0" y="1417320"/>
            <a:ext cx="1371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400" b="0">
                <a:solidFill>
                  <a:srgbClr val="5A6A7A"/>
                </a:solidFill>
                <a:latin typeface="Calibri"/>
              </a:rPr>
              <a:t>~2 min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103120"/>
            <a:ext cx="1106424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286000"/>
            <a:ext cx="9144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>
                <a:solidFill>
                  <a:srgbClr val="0D7A7A"/>
                </a:solidFill>
                <a:latin typeface="Calibri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2304288"/>
            <a:ext cx="77724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1A2A3A"/>
                </a:solidFill>
                <a:latin typeface="Calibri"/>
              </a:rPr>
              <a:t>Why “human in the loop” is no longer enough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0" y="2331720"/>
            <a:ext cx="1371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400" b="0">
                <a:solidFill>
                  <a:srgbClr val="5A6A7A"/>
                </a:solidFill>
                <a:latin typeface="Calibri"/>
              </a:rPr>
              <a:t>~3 min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017520"/>
            <a:ext cx="1106424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200400"/>
            <a:ext cx="9144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>
                <a:solidFill>
                  <a:srgbClr val="0D7A7A"/>
                </a:solidFill>
                <a:latin typeface="Calibri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3218688"/>
            <a:ext cx="77724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1A2A3A"/>
                </a:solidFill>
                <a:latin typeface="Calibri"/>
              </a:rPr>
              <a:t>Who really runs the workflow in an agentic world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0" y="3246120"/>
            <a:ext cx="1371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400" b="0">
                <a:solidFill>
                  <a:srgbClr val="5A6A7A"/>
                </a:solidFill>
                <a:latin typeface="Calibri"/>
              </a:rPr>
              <a:t>~3 min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931920"/>
            <a:ext cx="1106424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4114800"/>
            <a:ext cx="9144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>
                <a:solidFill>
                  <a:srgbClr val="0D7A7A"/>
                </a:solidFill>
                <a:latin typeface="Calibri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4133088"/>
            <a:ext cx="77724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1A2A3A"/>
                </a:solidFill>
                <a:latin typeface="Calibri"/>
              </a:rPr>
              <a:t>Roles accelerating vs. slowing (to 2028)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75520" y="4160520"/>
            <a:ext cx="1371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400" b="0">
                <a:solidFill>
                  <a:srgbClr val="5A6A7A"/>
                </a:solidFill>
                <a:latin typeface="Calibri"/>
              </a:rPr>
              <a:t>~4 min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846320"/>
            <a:ext cx="1106424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5029200"/>
            <a:ext cx="9144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>
                <a:solidFill>
                  <a:srgbClr val="0D7A7A"/>
                </a:solidFill>
                <a:latin typeface="Calibri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0" y="5047488"/>
            <a:ext cx="77724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1A2A3A"/>
                </a:solidFill>
                <a:latin typeface="Calibri"/>
              </a:rPr>
              <a:t>How we prepare — implications for the site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75520" y="5074920"/>
            <a:ext cx="1371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400" b="0">
                <a:solidFill>
                  <a:srgbClr val="5A6A7A"/>
                </a:solidFill>
                <a:latin typeface="Calibri"/>
              </a:rPr>
              <a:t>~3 min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5A6A7A"/>
                </a:solidFill>
                <a:latin typeface="Calibri"/>
              </a:rPr>
              <a:t>NASSCOM Session Debrief  |  Confidential — Site Leadership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5A6A7A"/>
                </a:solidFill>
                <a:latin typeface="Calibri"/>
              </a:rPr>
              <a:t>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Session snapshot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0D7A7A"/>
                </a:solidFill>
                <a:latin typeface="Calibri"/>
              </a:rPr>
              <a:t>Panelists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17320"/>
            <a:ext cx="361188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417320"/>
            <a:ext cx="3611880" cy="73152"/>
          </a:xfrm>
          <a:prstGeom prst="rect">
            <a:avLst/>
          </a:prstGeom>
          <a:solidFill>
            <a:srgbClr val="0D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45920"/>
            <a:ext cx="324612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0B1F3A"/>
                </a:solidFill>
                <a:latin typeface="Calibri"/>
              </a:rPr>
              <a:t>Pradeep Pasupuleti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48840"/>
            <a:ext cx="324612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5A6A7A"/>
                </a:solidFill>
                <a:latin typeface="Calibri"/>
              </a:rPr>
              <a:t>Director, ML &amp; Big Data — Hitachi Digital Services
(also shared as Assistant Director, ML &amp; Big Data, Hitachi India)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417320"/>
            <a:ext cx="361188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1417320"/>
            <a:ext cx="3611880" cy="73152"/>
          </a:xfrm>
          <a:prstGeom prst="rect">
            <a:avLst/>
          </a:prstGeom>
          <a:solidFill>
            <a:srgbClr val="0D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80" y="1645920"/>
            <a:ext cx="324612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0B1F3A"/>
                </a:solidFill>
                <a:latin typeface="Calibri"/>
              </a:rPr>
              <a:t>Vijaya Kadiyala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2148840"/>
            <a:ext cx="324612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5A6A7A"/>
                </a:solidFill>
                <a:latin typeface="Calibri"/>
              </a:rPr>
              <a:t>Exec. Director, Enterprise Data / AI / Cloud — DBS Tech India
(also shared as Director of AI/ML Engineering)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417320"/>
            <a:ext cx="361188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8160" y="1417320"/>
            <a:ext cx="3611880" cy="73152"/>
          </a:xfrm>
          <a:prstGeom prst="rect">
            <a:avLst/>
          </a:prstGeom>
          <a:solidFill>
            <a:srgbClr val="0D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1645920"/>
            <a:ext cx="324612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0B1F3A"/>
                </a:solidFill>
                <a:latin typeface="Calibri"/>
              </a:rPr>
              <a:t>Sajo Mathews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2148840"/>
            <a:ext cx="324612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5A6A7A"/>
                </a:solidFill>
                <a:latin typeface="Calibri"/>
              </a:rPr>
              <a:t>ML Lead / Director of AI — Deccan AI
Focus: model evaluation, post-training, reliable real-world AI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794760"/>
            <a:ext cx="1106424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3977639"/>
            <a:ext cx="105156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0D7A7A"/>
                </a:solidFill>
                <a:latin typeface="Calibri"/>
              </a:rPr>
              <a:t>Central question the session explored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389120"/>
            <a:ext cx="10515600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1A2A3A"/>
                </a:solidFill>
                <a:latin typeface="Calibri"/>
              </a:rPr>
              <a:t>As AI systems take on greater autonomy, enterprise workflows are changing —
from how decisions are made to how work gets done.
Is a “human in the loop” still enough… or who is really accountable for outcomes?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5A6A7A"/>
                </a:solidFill>
                <a:latin typeface="Calibri"/>
              </a:rPr>
              <a:t>NASSCOM Session Debrief  |  Confidential — Site Leadership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5A6A7A"/>
                </a:solidFill>
                <a:latin typeface="Calibri"/>
              </a:rPr>
              <a:t>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Why “human in the loop” is not enough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097280"/>
            <a:ext cx="11064240" cy="1188720"/>
          </a:xfrm>
          <a:prstGeom prst="roundRect">
            <a:avLst>
              <a:gd name="adj" fmla="val 8000"/>
            </a:avLst>
          </a:prstGeom>
          <a:solidFill>
            <a:srgbClr val="0B1F3A"/>
          </a:solidFill>
          <a:ln w="1270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325880"/>
            <a:ext cx="1051560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Token approval checkpoints ≠ meaningful control.
Enterprises buy systems, accountability, and outcomes — not just automated tasks.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514600"/>
            <a:ext cx="544068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743200"/>
            <a:ext cx="49377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0D7A7A"/>
                </a:solidFill>
                <a:latin typeface="Calibri"/>
              </a:rPr>
              <a:t>From execution → ownership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154680"/>
            <a:ext cx="493776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1A2A3A"/>
                </a:solidFill>
                <a:latin typeface="Calibri"/>
              </a:rPr>
              <a:t>Humans move out of routine execution and into design, supervision, validation, and outcome ownership.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514600"/>
            <a:ext cx="544068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2743200"/>
            <a:ext cx="49377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0D7A7A"/>
                </a:solidFill>
                <a:latin typeface="Calibri"/>
              </a:rPr>
              <a:t>Accountability must be named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3154680"/>
            <a:ext cx="493776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1A2A3A"/>
                </a:solidFill>
                <a:latin typeface="Calibri"/>
              </a:rPr>
              <a:t>Someone must own authority, escalation, and results — not merely click “Approve” under time pressure.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206240"/>
            <a:ext cx="544068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4434840"/>
            <a:ext cx="49377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0D7A7A"/>
                </a:solidFill>
                <a:latin typeface="Calibri"/>
              </a:rPr>
              <a:t>Regulated reality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846320"/>
            <a:ext cx="493776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1A2A3A"/>
                </a:solidFill>
                <a:latin typeface="Calibri"/>
              </a:rPr>
              <a:t>Legal liability, safety, compliance, and governance make fully autonomous end-states impractical for most enterprises.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4206240"/>
            <a:ext cx="544068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4434840"/>
            <a:ext cx="49377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0D7A7A"/>
                </a:solidFill>
                <a:latin typeface="Calibri"/>
              </a:rPr>
              <a:t>HITL vs. HOTL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4846320"/>
            <a:ext cx="493776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1A2A3A"/>
                </a:solidFill>
                <a:latin typeface="Calibri"/>
              </a:rPr>
              <a:t>Start with human-in-the-loop; graduate to human-on-the-loop only after proven bounds, monitoring, and evidence trails.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5A6A7A"/>
                </a:solidFill>
                <a:latin typeface="Calibri"/>
              </a:rPr>
              <a:t>NASSCOM Session Debrief  |  Confidential — Site Leadership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5A6A7A"/>
                </a:solidFill>
                <a:latin typeface="Calibri"/>
              </a:rPr>
              <a:t>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Who is really running the workflow?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09728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5A6A7A"/>
                </a:solidFill>
                <a:latin typeface="Calibri"/>
              </a:rPr>
              <a:t>In an agentic operating model, “running the workflow” means owning the system — not doing every step.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645920"/>
            <a:ext cx="2743200" cy="2377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645920"/>
            <a:ext cx="2743200" cy="91440"/>
          </a:xfrm>
          <a:prstGeom prst="rect">
            <a:avLst/>
          </a:prstGeom>
          <a:solidFill>
            <a:srgbClr val="0D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965960"/>
            <a:ext cx="237744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0B1F3A"/>
                </a:solidFill>
                <a:latin typeface="Calibri"/>
              </a:rPr>
              <a:t>1. Design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514600"/>
            <a:ext cx="237744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1A2A3A"/>
                </a:solidFill>
                <a:latin typeface="Calibri"/>
              </a:rPr>
              <a:t>Define goals, constraints,
policies, and success metrics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1645920"/>
            <a:ext cx="2743200" cy="2377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83280" y="1645920"/>
            <a:ext cx="2743200" cy="91440"/>
          </a:xfrm>
          <a:prstGeom prst="rect">
            <a:avLst/>
          </a:prstGeom>
          <a:solidFill>
            <a:srgbClr val="0D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66160" y="1965960"/>
            <a:ext cx="237744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0B1F3A"/>
                </a:solidFill>
                <a:latin typeface="Calibri"/>
              </a:rPr>
              <a:t>2. Orchestration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2514600"/>
            <a:ext cx="237744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1A2A3A"/>
                </a:solidFill>
                <a:latin typeface="Calibri"/>
              </a:rPr>
              <a:t>Integrate agents into legacy +
modern systems safely at scale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1645920"/>
            <a:ext cx="2743200" cy="2377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09360" y="1645920"/>
            <a:ext cx="2743200" cy="91440"/>
          </a:xfrm>
          <a:prstGeom prst="rect">
            <a:avLst/>
          </a:prstGeom>
          <a:solidFill>
            <a:srgbClr val="0D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1965960"/>
            <a:ext cx="237744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0B1F3A"/>
                </a:solidFill>
                <a:latin typeface="Calibri"/>
              </a:rPr>
              <a:t>3. Oversight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514600"/>
            <a:ext cx="237744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1A2A3A"/>
                </a:solidFill>
                <a:latin typeface="Calibri"/>
              </a:rPr>
              <a:t>Monitor exceptions, audit trails,
escalate high-risk actions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35440" y="1645920"/>
            <a:ext cx="2743200" cy="2377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235440" y="1645920"/>
            <a:ext cx="2743200" cy="91440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18320" y="1965960"/>
            <a:ext cx="237744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0B1F3A"/>
                </a:solidFill>
                <a:latin typeface="Calibri"/>
              </a:rPr>
              <a:t>4. Accountability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18320" y="2514600"/>
            <a:ext cx="237744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1A2A3A"/>
                </a:solidFill>
                <a:latin typeface="Calibri"/>
              </a:rPr>
              <a:t>Named owner for outcomes,
compliance, and failure modes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4297680"/>
            <a:ext cx="11247120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4480560"/>
            <a:ext cx="107899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E86A17"/>
                </a:solidFill>
                <a:latin typeface="Calibri"/>
              </a:rPr>
              <a:t>Leadership takeaway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4892040"/>
            <a:ext cx="1078992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1A2A3A"/>
                </a:solidFill>
                <a:latin typeface="Calibri"/>
              </a:rPr>
              <a:t>Process / product owners run the workflow. Agents execute tasks. Checkpoint approvers only matter if they have
real authority and enough information to intervene. High-risk actions may need dual control — legal responsibility
still sits with the organization and its accountable leaders.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5A6A7A"/>
                </a:solidFill>
                <a:latin typeface="Calibri"/>
              </a:rPr>
              <a:t>NASSCOM Session Debrief  |  Confidential — Site Leadership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5A6A7A"/>
                </a:solidFill>
                <a:latin typeface="Calibri"/>
              </a:rPr>
              <a:t>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Roles expected to grow by 2028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5A6A7A"/>
                </a:solidFill>
                <a:latin typeface="Calibri"/>
              </a:rPr>
              <a:t>From session notes — especially in the 2–5 year experience band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63040"/>
            <a:ext cx="11064240" cy="1280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463040"/>
            <a:ext cx="109728" cy="1280160"/>
          </a:xfrm>
          <a:prstGeom prst="rect">
            <a:avLst/>
          </a:prstGeom>
          <a:solidFill>
            <a:srgbClr val="1B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91640"/>
            <a:ext cx="102412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1B7A4A"/>
                </a:solidFill>
                <a:latin typeface="Calibri"/>
              </a:rPr>
              <a:t>Forward Deployed Engineers (FDE)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03120"/>
            <a:ext cx="102412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1A2A3A"/>
                </a:solidFill>
                <a:latin typeface="Calibri"/>
              </a:rPr>
              <a:t>Embed with customers / domains; ship AI into real workflows; close the gap between model capability and business adoption.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880360"/>
            <a:ext cx="11064240" cy="1280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880360"/>
            <a:ext cx="109728" cy="1280160"/>
          </a:xfrm>
          <a:prstGeom prst="rect">
            <a:avLst/>
          </a:prstGeom>
          <a:solidFill>
            <a:srgbClr val="1B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108960"/>
            <a:ext cx="102412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1B7A4A"/>
                </a:solidFill>
                <a:latin typeface="Calibri"/>
              </a:rPr>
              <a:t>AI Engineers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520440"/>
            <a:ext cx="102412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1A2A3A"/>
                </a:solidFill>
                <a:latin typeface="Calibri"/>
              </a:rPr>
              <a:t>Build, evaluate, and harden models &amp; agent systems — data quality, evals, post-training, reliability in production.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297680"/>
            <a:ext cx="11064240" cy="1280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4297680"/>
            <a:ext cx="109728" cy="1280160"/>
          </a:xfrm>
          <a:prstGeom prst="rect">
            <a:avLst/>
          </a:prstGeom>
          <a:solidFill>
            <a:srgbClr val="1B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526280"/>
            <a:ext cx="102412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1B7A4A"/>
                </a:solidFill>
                <a:latin typeface="Calibri"/>
              </a:rPr>
              <a:t>Go-to-Market Engineers (GTM)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937760"/>
            <a:ext cx="102412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1A2A3A"/>
                </a:solidFill>
                <a:latin typeface="Calibri"/>
              </a:rPr>
              <a:t>Bridge product, demos, solutions, and sales engineering — translate AI capability into packaged value and adoption.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5A6A7A"/>
                </a:solidFill>
                <a:latin typeface="Calibri"/>
              </a:rPr>
              <a:t>NASSCOM Session Debrief  |  Confidential — Site Leadership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5A6A7A"/>
                </a:solidFill>
                <a:latin typeface="Calibri"/>
              </a:rPr>
              <a:t>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Roles that may see slowdown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5A6A7A"/>
                </a:solidFill>
                <a:latin typeface="Calibri"/>
              </a:rPr>
              <a:t>Not “disappearing overnight” — but demand and career leverage likely compress without reinvention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63040"/>
            <a:ext cx="11064240" cy="1280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463040"/>
            <a:ext cx="109728" cy="1280160"/>
          </a:xfrm>
          <a:prstGeom prst="rect">
            <a:avLst/>
          </a:prstGeom>
          <a:solidFill>
            <a:srgbClr val="B0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91640"/>
            <a:ext cx="102412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B03A2E"/>
                </a:solidFill>
                <a:latin typeface="Calibri"/>
              </a:rPr>
              <a:t>Entry-level / fresher roles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03120"/>
            <a:ext cx="102412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1A2A3A"/>
                </a:solidFill>
                <a:latin typeface="Calibri"/>
              </a:rPr>
              <a:t>Routine coding, documentation, and first-line analysis are increasingly AI-augmented. Fewer pure “learn by doing grunt work” seats.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880360"/>
            <a:ext cx="11064240" cy="1280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880360"/>
            <a:ext cx="109728" cy="1280160"/>
          </a:xfrm>
          <a:prstGeom prst="rect">
            <a:avLst/>
          </a:prstGeom>
          <a:solidFill>
            <a:srgbClr val="B0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108960"/>
            <a:ext cx="102412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B03A2E"/>
                </a:solidFill>
                <a:latin typeface="Calibri"/>
              </a:rPr>
              <a:t>Managers (PIPE) — limited build engagement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520440"/>
            <a:ext cx="102412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1A2A3A"/>
                </a:solidFill>
                <a:latin typeface="Calibri"/>
              </a:rPr>
              <a:t>People / process managers without direct development or domain-tech ownership risk becoming coordination overhead.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297680"/>
            <a:ext cx="11064240" cy="1280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4297680"/>
            <a:ext cx="109728" cy="1280160"/>
          </a:xfrm>
          <a:prstGeom prst="rect">
            <a:avLst/>
          </a:prstGeom>
          <a:solidFill>
            <a:srgbClr val="B0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526280"/>
            <a:ext cx="102412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B03A2E"/>
                </a:solidFill>
                <a:latin typeface="Calibri"/>
              </a:rPr>
              <a:t>Production support (traditional)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937760"/>
            <a:ext cx="102412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1A2A3A"/>
                </a:solidFill>
                <a:latin typeface="Calibri"/>
              </a:rPr>
              <a:t>Ticket-driven, reactive L1/L2 work faces automation; value shifts to SRE-style ownership, reliability engineering, and incident judgment.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5A6A7A"/>
                </a:solidFill>
                <a:latin typeface="Calibri"/>
              </a:rPr>
              <a:t>NASSCOM Session Debrief  |  Confidential — Site Leadership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5A6A7A"/>
                </a:solidFill>
                <a:latin typeface="Calibri"/>
              </a:rPr>
              <a:t>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How to prepare for the shift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143000"/>
            <a:ext cx="5440680" cy="2057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143000"/>
            <a:ext cx="5440680" cy="91440"/>
          </a:xfrm>
          <a:prstGeom prst="rect">
            <a:avLst/>
          </a:prstGeom>
          <a:solidFill>
            <a:srgbClr val="0D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463040"/>
            <a:ext cx="484632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0B1F3A"/>
                </a:solidFill>
                <a:latin typeface="Calibri"/>
              </a:rPr>
              <a:t>Tech (AI) + Domain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057400"/>
            <a:ext cx="484632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1A2A3A"/>
                </a:solidFill>
                <a:latin typeface="Calibri"/>
              </a:rPr>
              <a:t>Pair AI fluency with deep domain expertise in one’s role — that’s where durable leverage sits.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143000"/>
            <a:ext cx="5440680" cy="2057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143000"/>
            <a:ext cx="5440680" cy="91440"/>
          </a:xfrm>
          <a:prstGeom prst="rect">
            <a:avLst/>
          </a:prstGeom>
          <a:solidFill>
            <a:srgbClr val="0D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463040"/>
            <a:ext cx="484632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0B1F3A"/>
                </a:solidFill>
                <a:latin typeface="Calibri"/>
              </a:rPr>
              <a:t>Thought leadership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057400"/>
            <a:ext cx="484632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1A2A3A"/>
                </a:solidFill>
                <a:latin typeface="Calibri"/>
              </a:rPr>
              <a:t>Move from task delivery to framing problems, writing, teaching, and shaping how the org uses AI.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429000"/>
            <a:ext cx="5440680" cy="2057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3429000"/>
            <a:ext cx="5440680" cy="91440"/>
          </a:xfrm>
          <a:prstGeom prst="rect">
            <a:avLst/>
          </a:prstGeom>
          <a:solidFill>
            <a:srgbClr val="0D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749040"/>
            <a:ext cx="484632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0B1F3A"/>
                </a:solidFill>
                <a:latin typeface="Calibri"/>
              </a:rPr>
              <a:t>Ideation &amp; design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343400"/>
            <a:ext cx="484632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1A2A3A"/>
                </a:solidFill>
                <a:latin typeface="Calibri"/>
              </a:rPr>
              <a:t>Invest in problem framing, workflow redesign, and outcome definition — not just ticket completion.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3429000"/>
            <a:ext cx="5440680" cy="2057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0" y="3429000"/>
            <a:ext cx="5440680" cy="91440"/>
          </a:xfrm>
          <a:prstGeom prst="rect">
            <a:avLst/>
          </a:prstGeom>
          <a:solidFill>
            <a:srgbClr val="0D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3749040"/>
            <a:ext cx="484632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0B1F3A"/>
                </a:solidFill>
                <a:latin typeface="Calibri"/>
              </a:rPr>
              <a:t>Curiosity as habit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4343400"/>
            <a:ext cx="484632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1A2A3A"/>
                </a:solidFill>
                <a:latin typeface="Calibri"/>
              </a:rPr>
              <a:t>Continuous experimentation with tools, evals, and agent patterns; stay uncomfortable on purpose.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5A6A7A"/>
                </a:solidFill>
                <a:latin typeface="Calibri"/>
              </a:rPr>
              <a:t>NASSCOM Session Debrief  |  Confidential — Site Leadership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5A6A7A"/>
                </a:solidFill>
                <a:latin typeface="Calibri"/>
              </a:rPr>
              <a:t>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Implications for Site leadership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1A2A3A"/>
                </a:solidFill>
                <a:latin typeface="Calibri"/>
              </a:rPr>
              <a:t>•  Hire / grow for FDE, AI Engineering, and GTM-engineering profiles in the mid-band (2–5 yrs) — not only classic IC ladders.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1A2A3A"/>
                </a:solidFill>
                <a:latin typeface="Calibri"/>
              </a:rPr>
              <a:t>•  Redesign fresher &amp; support pathways: AI-augmented onboarding, domain immersion, and measurable ownership early.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1A2A3A"/>
                </a:solidFill>
                <a:latin typeface="Calibri"/>
              </a:rPr>
              <a:t>•  Expect managers to stay technically / domain-engaged (build with teams) — pure PIPE coordination is a risk posture.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1A2A3A"/>
                </a:solidFill>
                <a:latin typeface="Calibri"/>
              </a:rPr>
              <a:t>•  For every agentic workflow: name an accountable owner, define escalation, and keep auditability before autonomy.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1A2A3A"/>
                </a:solidFill>
                <a:latin typeface="Calibri"/>
              </a:rPr>
              <a:t>•  Reward curiosity, ideation, and thought leadership in performance systems — not only utilization and ticket volume.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1A2A3A"/>
                </a:solidFill>
                <a:latin typeface="Calibri"/>
              </a:rPr>
              <a:t>•  Treat services value as system + outcome ownership (integration, risk, compliance) — not undifferentiated effort.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5A6A7A"/>
                </a:solidFill>
                <a:latin typeface="Calibri"/>
              </a:rPr>
              <a:t>NASSCOM Session Debrief  |  Confidential — Site Leadership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5A6A7A"/>
                </a:solidFill>
                <a:latin typeface="Calibri"/>
              </a:rPr>
              <a:t>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D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0D7A7A"/>
                </a:solidFill>
                <a:latin typeface="Calibri"/>
              </a:rPr>
              <a:t>CLOSING TAKEAWAY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10515600" cy="164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AI will run more of the work.
Humans must still own the outcome.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657600"/>
            <a:ext cx="1051560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E8EEF4"/>
                </a:solidFill>
                <a:latin typeface="Calibri"/>
              </a:rPr>
              <a:t>Our competitive edge through 2028: people who combine AI capability with domain depth,
accountable workflow ownership, and the curiosity to redesign how work gets done.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029200"/>
            <a:ext cx="1051560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E86A17"/>
                </a:solidFill>
                <a:latin typeface="Calibri"/>
              </a:rPr>
              <a:t>Discussion: Where should we pilot FDE / AI-engineer pathways first?
Which workflows need a named accountable owner before we automate further?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126480"/>
            <a:ext cx="10515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5A6A7A"/>
                </a:solidFill>
                <a:latin typeface="Calibri"/>
              </a:rPr>
              <a:t>Sources: Session notes · NASSCOM NTC Hyderabad 2026 preview · NASSCOM Voices (Agentic Shift) · industry HITL/HOTL guidance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