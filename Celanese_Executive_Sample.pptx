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8A1E"/>
            </a:gs>
            <a:gs pos="100000">
              <a:srgbClr val="8C1A08"/>
            </a:gs>
          </a:gsLst>
          <a:lin scaled="0" ang="14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731520"/>
            <a:ext cx="8686800" cy="8686800"/>
          </a:xfrm>
          <a:prstGeom prst="ellipse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-1828800"/>
            <a:ext cx="10058400" cy="10058400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Celanese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29807" y="425196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Specialty Polymers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Outlook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Illustrative executive update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078A8"/>
                </a:solidFill>
                <a:latin typeface="Aptos"/>
              </a:rPr>
              <a:t>ILLUSTRATIVE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9552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404040"/>
                </a:solidFill>
                <a:latin typeface="Aptos"/>
              </a:rPr>
              <a:t>Illustrative results point to a stronger cash start.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55648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65376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45010"/>
                </a:solidFill>
                <a:latin typeface="Aptos"/>
              </a:rPr>
              <a:t>$48 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ptos"/>
              </a:rPr>
              <a:t>Free cash flow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C6770"/>
                </a:solidFill>
                <a:latin typeface="Aptos"/>
              </a:rPr>
              <a:t>Illustrative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16936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26664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45010"/>
                </a:solidFill>
                <a:latin typeface="Aptos"/>
              </a:rPr>
              <a:t>$1.10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ptos"/>
              </a:rPr>
              <a:t>Adjusted EPS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C6770"/>
                </a:solidFill>
                <a:latin typeface="Aptos"/>
              </a:rPr>
              <a:t>Illustrative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078224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45010"/>
                </a:solidFill>
                <a:latin typeface="Aptos"/>
              </a:rPr>
              <a:t>$186 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ptos"/>
              </a:rPr>
              <a:t>EM adjusted EBIT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C6770"/>
                </a:solidFill>
                <a:latin typeface="Aptos"/>
              </a:rPr>
              <a:t>Illustrative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239512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45010"/>
                </a:solidFill>
                <a:latin typeface="Aptos"/>
              </a:rPr>
              <a:t>$124 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ptos"/>
              </a:rPr>
              <a:t>AC adjusted EBIT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C6770"/>
                </a:solidFill>
                <a:latin typeface="Aptos"/>
              </a:rPr>
              <a:t>Illustrative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755648"/>
            <a:ext cx="5571439" cy="3867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404040"/>
                </a:solidFill>
                <a:latin typeface="Aptos"/>
              </a:rPr>
              <a:t>Highlights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A1A1A"/>
                </a:solidFill>
                <a:latin typeface="Aptos"/>
              </a:rPr>
              <a:t>Free cash flow improved versus the prior illustrative quarter on working-capital discipline.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A1A1A"/>
                </a:solidFill>
                <a:latin typeface="Aptos"/>
              </a:rPr>
              <a:t>Mix and cost actions supported adjusted EPS despite flat illustrative volumes.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ptos"/>
              </a:rPr>
              <a:t>Engineered Materials and Acetyl Chain both contributed to the illustrative EBIT uplift.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25312"/>
            <a:ext cx="12191695" cy="566928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0533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Illustrative takeaway: cash improved on mix and cost, with no change to the plan.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C6770"/>
                </a:solidFill>
                <a:latin typeface="Aptos"/>
              </a:rPr>
              <a:t>Celanese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5C6770"/>
                </a:solidFill>
                <a:latin typeface="Aptos"/>
              </a:rPr>
              <a:t>Illustrative figures. Not actual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30407" y="651052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7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078A8"/>
                </a:solidFill>
                <a:latin typeface="Aptos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95528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404040"/>
                </a:solidFill>
                <a:latin typeface="Aptos"/>
              </a:rPr>
              <a:t>Proceed with the next cash and cost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6420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ptos"/>
              </a:rPr>
              <a:t>We recommend endorsing the illustrative plan to protect cash through year-end while completing targeted cost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22576"/>
            <a:ext cx="5254599" cy="233172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23744"/>
            <a:ext cx="47425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078A8"/>
                </a:solidFill>
                <a:latin typeface="Aptos"/>
              </a:rPr>
              <a:t>Do now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  <a:latin typeface="Aptos"/>
              </a:rPr>
              <a:t>Close the sample cost program by 31 Oct 2026.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ptos"/>
              </a:rPr>
              <a:t>Name a single cash owner for weekly illustrative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2322576"/>
            <a:ext cx="5254599" cy="233172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4759" y="2523744"/>
            <a:ext cx="47425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078A8"/>
                </a:solidFill>
                <a:latin typeface="Aptos"/>
              </a:rPr>
              <a:t>Hold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  <a:latin typeface="Aptos"/>
              </a:rPr>
              <a:t>No site decision until the next illustrative review.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ptos"/>
              </a:rPr>
              <a:t>No change to segment targets in this update.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25312"/>
            <a:ext cx="12191695" cy="566928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03504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Decision requested: endorse the illustrative plan.  Owner: Finance.  Date: 31 Oct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C6770"/>
                </a:solidFill>
                <a:latin typeface="Aptos"/>
              </a:rPr>
              <a:t>Celanese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5C6770"/>
                </a:solidFill>
                <a:latin typeface="Aptos"/>
              </a:rPr>
              <a:t>Illustrative figures. Not actual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30407" y="651052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7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